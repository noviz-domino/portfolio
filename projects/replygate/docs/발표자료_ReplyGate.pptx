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charts/_rels/chart1.xml.rels><?xml version="1.0" encoding="UTF-8" standalone="yes" ?><Relationships xmlns="http://schemas.openxmlformats.org/package/2006/relationships"><Relationship Id="rId1" Type="http://schemas.openxmlformats.org/officeDocument/2006/relationships/package" Target="../embeddings/oleObject1.xlsx"  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RAG 적용</c:v>
                </c:pt>
              </c:strCache>
            </c:strRef>
          </c:tx>
          <c:spPr>
            <a:solidFill>
              <a:srgbClr val="37c98b"/>
            </a:solidFill>
            <a:effectLst/>
          </c:spPr>
          <c:invertIfNegative val="0"/>
          <c:dLbls>
            <c:delete val="0"/>
            <c:numFmt formatCode="0.0&quot;%&quot;" sourceLinked="0"/>
            <c:txPr>
              <a:bodyPr rot="0" vert="horz" wrap="none" lIns="0" tIns="0" rIns="0" bIns="0" anchor="ctr" anchorCtr="1"/>
              <a:p>
                <a:pPr algn="l">
                  <a:defRPr sz="1400" b="0" i="0" u="none">
                    <a:solidFill>
                      <a:srgbClr val="e6edf6"/>
                    </a:solidFill>
                    <a:latin typeface="Malgun Gothic"/>
                  </a:defRPr>
                </a:pPr>
                <a:endParaRPr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1차 승인률 (주 지표)</c:v>
                  </c:pt>
                  <c:pt idx="1">
                    <c:v>수치 정확률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베이스라인</c:v>
                </c:pt>
              </c:strCache>
            </c:strRef>
          </c:tx>
          <c:spPr>
            <a:solidFill>
              <a:srgbClr val="f2617a"/>
            </a:solidFill>
            <a:effectLst/>
          </c:spPr>
          <c:invertIfNegative val="0"/>
          <c:dLbls>
            <c:delete val="0"/>
            <c:numFmt formatCode="0.0&quot;%&quot;" sourceLinked="0"/>
            <c:txPr>
              <a:bodyPr rot="0" vert="horz" wrap="none" lIns="0" tIns="0" rIns="0" bIns="0" anchor="ctr" anchorCtr="1"/>
              <a:p>
                <a:pPr algn="l">
                  <a:defRPr sz="1400" b="0" i="0" u="none">
                    <a:solidFill>
                      <a:srgbClr val="e6edf6"/>
                    </a:solidFill>
                    <a:latin typeface="Malgun Gothic"/>
                  </a:defRPr>
                </a:pPr>
                <a:endParaRPr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1차 승인률 (주 지표)</c:v>
                  </c:pt>
                  <c:pt idx="1">
                    <c:v>수치 정확률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</c:v>
                </c:pt>
                <c:pt idx="1">
                  <c:v>43.8</c:v>
                </c:pt>
              </c:numCache>
            </c:numRef>
          </c:val>
        </c:ser>
        <c:dLbls>
          <c:delete val="0"/>
          <c:numFmt formatCode="0.0&quot;%&quot;" sourceLinked="0"/>
          <c:txPr>
            <a:bodyPr rot="0" vert="horz" wrap="none" lIns="0" tIns="0" rIns="0" bIns="0" anchor="ctr" anchorCtr="1"/>
            <a:p>
              <a:pPr algn="l">
                <a:defRPr sz="1400" b="0" i="0" u="none">
                  <a:solidFill>
                    <a:srgbClr val="e6edf6"/>
                  </a:solidFill>
                  <a:latin typeface="Malgun Gothic"/>
                </a:defRPr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e6edf6"/>
                </a:solidFill>
                <a:latin typeface="Malgun Gothic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0"/>
        </c:scaling>
        <c:axPos val="l"/>
        <c:crossAx val="2094734554"/>
        <c:delete val="0"/>
        <c:majorGridlines>
          <c:spPr>
            <a:ln w="12700" cap="flat">
              <a:solidFill>
                <a:srgbClr val="2a3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000" b="0" i="0" u="none">
                <a:solidFill>
                  <a:srgbClr val="8b98ab"/>
                </a:solidFill>
                <a:latin typeface="Malgun Gothic"/>
              </a:defRPr>
            </a:pPr>
            <a:endParaRPr/>
          </a:p>
        </c:txPr>
        <c:crosses val="autoZero"/>
        <c:crossBetween val="between"/>
      </c:valAx>
      <c:spPr>
        <a:solidFill>
          <a:srgbClr val="0e1117"/>
        </a:solidFill>
        <a:ln>
          <a:noFill/>
        </a:ln>
        <a:effectLst/>
      </c:spPr>
    </c:plotArea>
    <c:legend>
      <c:legendPos val="b"/>
      <c:layout/>
      <c:overlay val="0"/>
      <c:txPr>
        <a:bodyPr rot="0" vert="horz" wrap="none" lIns="0" tIns="0" rIns="0" bIns="0" anchor="ctr" anchorCtr="1"/>
        <a:p>
          <a:pPr algn="l">
            <a:defRPr sz="1200" b="0" i="0" u="none">
              <a:solidFill>
                <a:srgbClr val="8b98ab"/>
              </a:solidFill>
              <a:latin typeface="Malgun Gothic"/>
            </a:defRPr>
          </a:pPr>
          <a:endParaRPr/>
        </a:p>
      </c:txPr>
    </c:legend>
    <c:plotVisOnly val="0"/>
    <c:dispBlanksAs val="gap"/>
  </c:chart>
  <c:spPr>
    <a:solidFill>
      <a:srgbClr val="0e1117"/>
    </a:solidFill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9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제목만 읽고 바로 3번 슬라이드로 넘어간다. 자기소개는 길게 하지 않는다.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설명하기 전에 5초 정도 읽게 둔다. 그다음 세 가지를 순서대로 짚는다.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폼 제출은 2~3명으로 제한한다. RPM 15라 분당 7~8건이 상한.</a:t>
            </a:r>
            <a:endParaRPr lang="en-US"/>
          </a:p>
          <a:p>
            <a:pPr lvl="0">
              <a:defRPr/>
            </a:pPr>
            <a:r>
              <a:rPr lang="en-US"/>
              <a:t>카드가 1분 넘게 안 오면 미리 대기시켜둔 백업 건으로 진행한다.</a:t>
            </a:r>
            <a:endParaRPr lang="en-US"/>
          </a:p>
          <a:p>
            <a:pPr lvl="0">
              <a:defRPr/>
            </a:pPr>
            <a:r>
              <a:rPr lang="en-US"/>
              <a:t>데모가 완전히 실패하면 당황하지 말고 측정 파트로 넘어간다. 결론은 숫자다.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/>
              <a:t>v2를 숨기지 않는 것이 핵심이다. 라벨을 모델이 이미 답하던 쪽으로 옮겨서 오른 숫자였고 중립은 여전히 0이었다. 이걸 개선이라고 보고했으면 자기기만이다.</a:t>
            </a:r>
            <a:endParaRPr lang="en-US"/>
          </a:p>
          <a:p>
            <a:pPr lvl="0">
              <a:defRPr/>
            </a:pPr>
            <a:r>
              <a:rPr lang="en-US"/>
              <a:t>클래스별로 쪼개봤기 때문에 0/7을 발견했고 거기서 구조 문제에 도달했다.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jpe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chart" Target="../charts/chart1.xml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38528"/>
            <a:ext cx="8778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ReplyGate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22960" y="299923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쓰고, 사람이 승인해서 보내는 고객 응대 자동화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22960" y="35844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빠르게 만드는 것보다, 통제 가능하게 만드는 것이 실무의 문제다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6035040" cy="1207008"/>
          </a:xfrm>
          <a:prstGeom prst="roundRect">
            <a:avLst>
              <a:gd name="adj" fmla="val 6818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47914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멀티캠퍼스 KDT AI캠퍼스  ·  AI에이전트 엔지니어 트랙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미니프로젝트  ·  개인  ·  2026. 08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5358384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92640" y="4828032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26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277856" y="4828032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8B98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77856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⚪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863072" y="4828032"/>
            <a:ext cx="457200" cy="45720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63072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카드의 배지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17099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0020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환각이 그대로 고객에게 간다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79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26974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구조와 설계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3044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00200" y="36850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· 기술 스택 · 일정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654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46725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50200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78040" y="17099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— 효과가 있었나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7804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vs 베이스라인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6791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78040" y="26974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트러블슈팅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36667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78040" y="368503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회고와 향후 확장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답변이 그대로 고객에게 갔다면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정책 문서 없이 쓴 실제 출력물 · 평가셋 EV-17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6858000" cy="2194560"/>
          </a:xfrm>
          <a:prstGeom prst="roundRect">
            <a:avLst>
              <a:gd name="adj" fmla="val 3750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116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“지연에 대한 보상으로 온마켓에서 현금처럼 사용하실 수 있는
</a:t>
            </a:r>
            <a:pPr indent="0" marL="0">
              <a:lnSpc>
                <a:spcPts val="3200"/>
              </a:lnSpc>
              <a:buNone/>
            </a:pPr>
            <a:r>
              <a:rPr lang="en-US" sz="19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적립금 5,000원을 지급해 드렸습니다.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82128" y="1737360"/>
            <a:ext cx="347472" cy="34747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261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8212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57616" y="1691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정책에 그 금액이 없다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57616" y="1984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규정은 주문 금액의 5% (DL-07)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82128" y="2468880"/>
            <a:ext cx="347472" cy="34747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26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82128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57616" y="2423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과거형으로 단정했다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7616" y="27157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하지도 않은 일을 “드렸습니다”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82128" y="3200400"/>
            <a:ext cx="347472" cy="34747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26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57616" y="31546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자연스럽다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57616" y="3447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사람이 틀린 줄 모른다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161B2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480560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오타가 아니라 분쟁입니다. 그리고 아무도 검토하지 않으면 그대로 발송됩니다.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543153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“환불은 영업일 기준 7일 이내에 처리됩니다” 같은 문장을 규정이 14일이어도 자연스럽게 생성한다.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틀리면 회사가 손해를 본다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베이스라인이 실제로 쓴 답변 두 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39512" cy="2487168"/>
          </a:xfrm>
          <a:prstGeom prst="roundRect">
            <a:avLst>
              <a:gd name="adj" fmla="val 3309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EV-42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“소멸된 적립금은 확인 즉시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전액 복구 조치될 예정입니다”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54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정책상 복원 불가 (MB-07)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39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권한을 행사했다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239512" cy="2487168"/>
          </a:xfrm>
          <a:prstGeom prst="roundRect">
            <a:avLst>
              <a:gd name="adj" fmla="val 3309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EV-50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2157984"/>
            <a:ext cx="4663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 중으로 해지 수수료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 처리를 완료해 드리겠습니다”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054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정책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3273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당시 안내 누락을 인정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639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귀책을 AI가 시인했다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161B2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572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그렇다고 사람이 처음부터 쓰면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495604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한 건당 5~10분</a:t>
            </a:r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반복 유형이 대부분인데 매번 규정을 찾는다   ·   자동화의 의미가 없다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구조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실무가 쓰는 방식 — Human-in-the-Loop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64992" cy="1700784"/>
          </a:xfrm>
          <a:prstGeom prst="roundRect">
            <a:avLst>
              <a:gd name="adj" fmla="val 4839"/>
            </a:avLst>
          </a:prstGeom>
          <a:solidFill>
            <a:srgbClr val="1B223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56816"/>
            <a:ext cx="384048" cy="38404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08176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 생성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054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문서를 근거로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쓴다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41648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53712" y="1737360"/>
            <a:ext cx="3364992" cy="1700784"/>
          </a:xfrm>
          <a:prstGeom prst="roundRect">
            <a:avLst>
              <a:gd name="adj" fmla="val 4839"/>
            </a:avLst>
          </a:prstGeom>
          <a:solidFill>
            <a:srgbClr val="1B223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56816"/>
            <a:ext cx="384048" cy="38404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검토·승인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8032" y="25054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텔레그램에서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하나로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55280" y="2395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A3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67344" y="1737360"/>
            <a:ext cx="3364992" cy="1700784"/>
          </a:xfrm>
          <a:prstGeom prst="roundRect">
            <a:avLst>
              <a:gd name="adj" fmla="val 4839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1664" y="1956816"/>
            <a:ext cx="384048" cy="384048"/>
          </a:xfrm>
          <a:prstGeom prst="ellipse">
            <a:avLst/>
          </a:prstGeom>
          <a:solidFill>
            <a:srgbClr val="161B24"/>
          </a:solidFill>
          <a:ln w="19050">
            <a:solidFill>
              <a:srgbClr val="37C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41664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0" y="19933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발송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41664" y="25054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것만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Gmail로 나간다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712464"/>
            <a:ext cx="10908792" cy="859536"/>
          </a:xfrm>
          <a:prstGeom prst="roundRect">
            <a:avLst>
              <a:gd name="adj" fmla="val 9574"/>
            </a:avLst>
          </a:prstGeom>
          <a:solidFill>
            <a:srgbClr val="161B24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913632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빠르게 만드는 것보다, 통제 가능하게 만드는 것이 실무의 문제다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40080" y="4791456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프로젝트는 이 구조를 무료 도구 조합만으로 구현하고, “통제 가능하게 만들면서도 실제로 빨라졌는가”를 숫자로 증명한다.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10908792" cy="1133856"/>
          </a:xfrm>
          <a:prstGeom prst="roundRect">
            <a:avLst>
              <a:gd name="adj" fmla="val 7258"/>
            </a:avLst>
          </a:prstGeom>
          <a:solidFill>
            <a:srgbClr val="1B223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773936"/>
            <a:ext cx="10332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문의가 접수되면 AI가 사내 정책 문서를 근거로 답변 초안을 작성하고,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텔레그램에서 검토·수정·승인한 뒤에만 메일이 발송되는 시스템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4553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92608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314553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10712" y="374904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92608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314553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81344" y="374904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조항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926080"/>
            <a:ext cx="2542032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51976" y="314553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50건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51976" y="374904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도메인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97480" y="4572000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이커머스 쇼핑몰 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743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497433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3766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지표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97480" y="5376672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승인률 (수정 없이 발송 가능한 초안의 비율)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n8n과 대시보드는 직접 통신하지 않는다 — 구글 시트를 공용 저장소로 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103120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8B98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Forms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54096" y="1737360"/>
            <a:ext cx="2103120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54096" y="1856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Sheets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54096" y="2148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· 이력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68112" y="1737360"/>
            <a:ext cx="3200400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68112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워크플로우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68112" y="2148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→ RAG → 초안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9408" y="1737360"/>
            <a:ext cx="2560320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8B98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초안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79408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임시보관함 저장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61488" y="197510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75504" y="197510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0" y="197510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68112" y="2852928"/>
            <a:ext cx="6071616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(휴대폰 · 텔레그램)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334670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발송 승인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수정 요청 → 자연어 지시 → AI 재작성 → 재검토 (승인까지 반복)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852928"/>
            <a:ext cx="4517136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대시보드 (로컬)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2688" y="334670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상황판 (SSE)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집계 · 시트 읽기 전용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535424"/>
            <a:ext cx="10908792" cy="822960"/>
          </a:xfrm>
          <a:prstGeom prst="roundRect">
            <a:avLst>
              <a:gd name="adj" fmla="val 10000"/>
            </a:avLst>
          </a:prstGeom>
          <a:solidFill>
            <a:srgbClr val="161B2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3659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결정으로 외부 공개 URL(ngrok 등)이 불필요해지고, 발표 당일 네트워크 장애로 데모가 죽을 위험이 사라진다.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5239512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901952"/>
            <a:ext cx="438912" cy="43891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🏷️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81328" y="1792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· 감정 분류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21396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6종 유형 + 감정(불만/일반) + 주문 조회 필요 여부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239512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901952"/>
            <a:ext cx="438912" cy="43891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50608" y="1792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근거 검색 (RAG)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50608" y="21396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문의를 임베딩해 70개 조항 중 상위 3개를 찾는다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5239512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200400"/>
            <a:ext cx="438912" cy="43891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37C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81328" y="3090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 + 근거 인용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81328" y="34381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검색된 조항 밖의 수치는 쓰지 못하게 한다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2871216"/>
            <a:ext cx="5239512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3200400"/>
            <a:ext cx="438912" cy="43891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50608" y="30906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승인 · 수정 루프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0608" y="34381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2개. 자연어로 수정 지시, 승인까지 반복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169664"/>
            <a:ext cx="5239512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498848"/>
            <a:ext cx="438912" cy="43891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F26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498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81328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충돌 감지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81328" y="47365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검토자 지시가 정책과 어긋나면 경고를 띄운다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4169664"/>
            <a:ext cx="5239512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65392" y="4498848"/>
            <a:ext cx="438912" cy="43891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8B98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4498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50608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· 실시간 상황판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50608" y="47365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흐름과 운영 지표를 읽기 전용으로 집계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59612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기능 명세 F1~F17은 docs/기획서.md 에 정리되어 있다.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설계에서 신경 쓴 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만들지 않기로 한 것도 설계다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39512" cy="1737360"/>
          </a:xfrm>
          <a:prstGeom prst="roundRect">
            <a:avLst>
              <a:gd name="adj" fmla="val 4737"/>
            </a:avLst>
          </a:prstGeom>
          <a:solidFill>
            <a:srgbClr val="1B223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293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창구는 하나로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36829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승인 기능을 일부러 만들지 않았다. 만드는 순간 “휴대폰만으로 완결된다”는 차별점이 스스로 무너진다.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39512" cy="1737360"/>
          </a:xfrm>
          <a:prstGeom prst="roundRect">
            <a:avLst>
              <a:gd name="adj" fmla="val 4737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92938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함께 띄운다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01968" y="2368296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초안이 인용한 조항 ID를 카드에 표시해 담당자가 3초 만에 검증한다. 이게 없으면 승인은 형식이 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30168"/>
            <a:ext cx="5239512" cy="1737360"/>
          </a:xfrm>
          <a:prstGeom prst="roundRect">
            <a:avLst>
              <a:gd name="adj" fmla="val 4737"/>
            </a:avLst>
          </a:prstGeom>
          <a:solidFill>
            <a:srgbClr val="1B22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86791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분류를 두 축으로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430682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감정(불만/일반)과 주문 조회 필요 여부는 직교하는 별개의 축이다. 처음엔 하나로 묶었다가 측정 결과 분리했다.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630168"/>
            <a:ext cx="5239512" cy="1737360"/>
          </a:xfrm>
          <a:prstGeom prst="roundRect">
            <a:avLst>
              <a:gd name="adj" fmla="val 4737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386791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검증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01968" y="4306824"/>
            <a:ext cx="4663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실수는 사람이 막고, 사람의 실수는 AI가 잡는다. 검토자 지시가 정책과 어긋나면 경고하되 막지는 않는다.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스택과 개발 일정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5239512" cy="4023360"/>
          </a:xfrm>
          <a:prstGeom prst="roundRect">
            <a:avLst>
              <a:gd name="adj" fmla="val 2045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32688" y="224942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61488" y="2249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n8n (Cloud)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6517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61488" y="2651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3.5 Flash Lite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30540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61488" y="30540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gemini-embedding-001 (768차원)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345643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61488" y="34564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시트 저장 + 코사인 유사도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38587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접수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61488" y="38587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Forms + Sheets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4261104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61488" y="4261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4663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UI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61488" y="4663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Bot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506577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61488" y="5065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SSE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5413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무료 티어 · 총 운영 비용 0원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627632"/>
            <a:ext cx="5239512" cy="4023360"/>
          </a:xfrm>
          <a:prstGeom prst="roundRect">
            <a:avLst>
              <a:gd name="adj" fmla="val 2045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1810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(7일)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601968" y="22860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22860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96912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리스크 검증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01968" y="27432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27432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2761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파이프라인 관통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01968" y="32004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32004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96912" y="3218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승인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01968" y="36576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6576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96912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루프 + RAG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01968" y="41148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41148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 구축 + 1차 측정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601968" y="45720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45720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96912" y="4590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+ 상황판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01968" y="5029200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161B24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502920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96912" y="5047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준비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601968" y="5413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D4가 가장 무거웠다 — 정책 문서 6종 작성·적재와 수정 루프가 겹친다.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600" b="1">
                <a:solidFill>
                  <a:srgbClr val="e6edf6"/>
                </a:solidFill>
                <a:latin typeface="맑은 고딕"/>
                <a:ea typeface="맑은 고딕"/>
                <a:cs typeface="맑은 고딕"/>
              </a:rPr>
              <a:t>시연</a:t>
            </a:r>
            <a:endParaRPr lang="en-US" sz="4600"/>
          </a:p>
        </p:txBody>
      </p:sp>
      <p:sp>
        <p:nvSpPr>
          <p:cNvPr id="3" name="Text 1"/>
          <p:cNvSpPr/>
          <p:nvPr/>
        </p:nvSpPr>
        <p:spPr>
          <a:xfrm>
            <a:off x="822960" y="2212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4f9cf9"/>
                </a:solidFill>
                <a:latin typeface="맑은 고딕"/>
                <a:ea typeface="맑은 고딕"/>
                <a:cs typeface="맑은 고딕"/>
              </a:rPr>
              <a:t>QR로 직접 문의를 남겨 주세요</a:t>
            </a:r>
            <a:endParaRPr lang="en-US" sz="1700"/>
          </a:p>
        </p:txBody>
      </p:sp>
      <p:sp>
        <p:nvSpPr>
          <p:cNvPr id="4" name="Shape 2"/>
          <p:cNvSpPr/>
          <p:nvPr/>
        </p:nvSpPr>
        <p:spPr>
          <a:xfrm>
            <a:off x="822960" y="2889504"/>
            <a:ext cx="365760" cy="36576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f9cf9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298448" y="28986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6edf6"/>
                </a:solidFill>
                <a:latin typeface="맑은 고딕"/>
                <a:ea typeface="맑은 고딕"/>
                <a:cs typeface="맑은 고딕"/>
              </a:rPr>
              <a:t>폼 제출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291840" y="29169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청중이 직접 문의를 남긴다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822960" y="3456432"/>
            <a:ext cx="365760" cy="36576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f9cf9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298448" y="3465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6edf6"/>
                </a:solidFill>
                <a:latin typeface="맑은 고딕"/>
                <a:ea typeface="맑은 고딕"/>
                <a:cs typeface="맑은 고딕"/>
              </a:rPr>
              <a:t>상황판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29184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접수됨 → 분석중 → 승인대기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365760" cy="36576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f9cf9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298448" y="40325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6edf6"/>
                </a:solidFill>
                <a:latin typeface="맑은 고딕"/>
                <a:ea typeface="맑은 고딕"/>
                <a:cs typeface="맑은 고딕"/>
              </a:rPr>
              <a:t>텔레그램 카드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29184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배지 · 근거 조항 · 문의 원문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822960" y="4590288"/>
            <a:ext cx="365760" cy="36576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f9cf9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298448" y="45994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6edf6"/>
                </a:solidFill>
                <a:latin typeface="맑은 고딕"/>
                <a:ea typeface="맑은 고딕"/>
                <a:cs typeface="맑은 고딕"/>
              </a:rPr>
              <a:t>승인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32918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메일함을 확인해 보세요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822960" y="5157216"/>
            <a:ext cx="365760" cy="365760"/>
          </a:xfrm>
          <a:prstGeom prst="ellipse">
            <a:avLst/>
          </a:prstGeom>
          <a:solidFill>
            <a:srgbClr val="161b24"/>
          </a:solidFill>
          <a:ln w="19050">
            <a:solidFill>
              <a:srgbClr val="4f9cf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2296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4f9cf9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298448" y="5166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e6edf6"/>
                </a:solidFill>
                <a:latin typeface="맑은 고딕"/>
                <a:ea typeface="맑은 고딕"/>
                <a:cs typeface="맑은 고딕"/>
              </a:rPr>
              <a:t>수정 루프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291840" y="5184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정책과 다른 지시 → ⚠️ 경고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7108271" y="816025"/>
            <a:ext cx="3776472" cy="4878478"/>
          </a:xfrm>
          <a:prstGeom prst="roundRect">
            <a:avLst>
              <a:gd name="adj" fmla="val 2179"/>
            </a:avLst>
          </a:prstGeom>
          <a:solidFill>
            <a:srgbClr val="161b24"/>
          </a:solidFill>
          <a:ln w="12700">
            <a:solidFill>
              <a:srgbClr val="4f9cf9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08271" y="2951303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QR 코드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7108271" y="3353639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발표 전 구글 폼 QR 이미지로 교체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b98ab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lang="en-US" sz="1000"/>
          </a:p>
        </p:txBody>
      </p:sp>
      <p:pic>
        <p:nvPicPr>
          <p:cNvPr id="2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16392" y="950043"/>
            <a:ext cx="3560229" cy="4630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설계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“RAG를 붙였습니다”가 아니라 “붙였더니 얼마나 나아졌습니다”를 말하기 위해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39512" cy="1828800"/>
          </a:xfrm>
          <a:prstGeom prst="roundRect">
            <a:avLst>
              <a:gd name="adj" fmla="val 4500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836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 없이 Gemini가 일반 지식으로 답변을 생성한다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39512" cy="1828800"/>
          </a:xfrm>
          <a:prstGeom prst="roundRect">
            <a:avLst>
              <a:gd name="adj" fmla="val 4500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8836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적용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1968" y="2286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조항을 검색해 근거로 제시하고 생성한다 (실제 파이프라인과 동일)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7588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평가셋 50건을 두 조건으로 각각 측정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4224528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12 · 배송 10 · 교환반품 8 · 불량AS 8 · 회원적립금 7 · 기타 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6268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4626864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불만 15 · 일반 35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029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5029200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단일조항 30 · 복수조항 15 · 정보없음 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431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5건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5431536"/>
            <a:ext cx="9418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문서에 의도적으로 넣지 않은 주제. 지어내는지 본다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결과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554480"/>
            <a:ext cx="3685032" cy="2798064"/>
          </a:xfrm>
          <a:prstGeom prst="roundRect">
            <a:avLst>
              <a:gd name="adj" fmla="val 2941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0" y="155448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01584" y="17190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802368" y="17190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607040" y="171907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01584" y="20482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승인률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802368" y="20482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07040" y="204825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34.0%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01584" y="25968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정확률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802368" y="259689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96.0%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607040" y="259689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43.8%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01584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다른 수치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802368" y="314553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607040" y="314553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01584" y="36941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5건 수치 창작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802368" y="369417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607040" y="3694176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863840" y="4553712"/>
            <a:ext cx="3685032" cy="1207008"/>
          </a:xfrm>
          <a:prstGeom prst="roundRect">
            <a:avLst>
              <a:gd name="adj" fmla="val 6818"/>
            </a:avLst>
          </a:prstGeom>
          <a:solidFill>
            <a:srgbClr val="161B24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63840" y="4700016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+60.0%p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7863840" y="5175504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근거를 주자 승인 가능한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초안이 이만큼 늘었다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어떻게 읽을 것인가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지표를 두 개 재는 의미가 있으려면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39512" cy="2286000"/>
          </a:xfrm>
          <a:prstGeom prst="roundRect">
            <a:avLst>
              <a:gd name="adj" fmla="val 3600"/>
            </a:avLst>
          </a:prstGeom>
          <a:solidFill>
            <a:srgbClr val="1B223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288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승인률은 수치 정확률의 재탕이 아니다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4871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36건 중 21건</a:t>
            </a:r>
            <a:endParaRPr lang="en-US" sz="19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수치 오류가 아닌 사유였다 — 근거 없는 확약, 원인 창작, 정책 정면 위반.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39512" cy="2286000"/>
          </a:xfrm>
          <a:prstGeom prst="roundRect">
            <a:avLst>
              <a:gd name="adj" fmla="val 3600"/>
            </a:avLst>
          </a:prstGeom>
          <a:solidFill>
            <a:srgbClr val="1B223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01968" y="18288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베이스라인이 34%나 나온 이유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01968" y="22860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EV-37은 수리 기간 7~14일을 정책 없이 맞혔다. AI가 아무것도 못 맞춘 게 아니라, 일반 상식과 이 회사 정책이 우연히 겹칠 때만 맞았다.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0908792" cy="1572768"/>
          </a:xfrm>
          <a:prstGeom prst="roundRect">
            <a:avLst>
              <a:gd name="adj" fmla="val 5233"/>
            </a:avLst>
          </a:prstGeom>
          <a:solidFill>
            <a:srgbClr val="161B24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2976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 — 담당자가 “수정 없이 발송”을 누르는가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47183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718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위반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8688" y="47183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4718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창작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04688" y="47183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4718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확약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90688" y="4718304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0688" y="4718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미응답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52303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중 하나라도 있으면 X · 어조와 군더더기는 통과 · 판정 근거를 100줄 전부 기록했다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측정이 설계를 바꿨다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분류 — 세 번의 측정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65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19019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초기 정의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56.0%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0" y="19019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 0/20 — 한 번도 안 골랐다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79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816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정의를 다듬었다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09360" y="28163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중립 0/7 — 라벨만 옮긴 가짜 개선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93008"/>
            <a:ext cx="10908792" cy="786384"/>
          </a:xfrm>
          <a:prstGeom prst="roundRect">
            <a:avLst>
              <a:gd name="adj" fmla="val 10465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941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3730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축으로 분리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657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98.0%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373075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조회필요 축이 독립 지표가 됐다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498848"/>
            <a:ext cx="10908792" cy="1298448"/>
          </a:xfrm>
          <a:prstGeom prst="roundRect">
            <a:avLst>
              <a:gd name="adj" fmla="val 6338"/>
            </a:avLst>
          </a:prstGeom>
          <a:solidFill>
            <a:srgbClr val="161B2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663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클래스가 학습 불가능했던 게 아니라 잘못 놓여 있었다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688" y="50292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감정과 “주문 조회가 필요한가”는 직교하는 두 축인데 하나의 enum에 눌러 담았다.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축을 주자 바로 살아났고, 쓰이지 않던 클래스는 카드의 📋 배지라는 실제 기능이 됐다.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RAG를 붙여도 환각은 남는다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먼저 말한다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2084832"/>
          </a:xfrm>
          <a:prstGeom prst="roundRect">
            <a:avLst>
              <a:gd name="adj" fmla="val 3947"/>
            </a:avLst>
          </a:prstGeom>
          <a:solidFill>
            <a:srgbClr val="1B223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019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EV-12 · 함정 문항 (기프트카드 환불 — 정책에 없는 주제)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32688" y="22860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insufficient_info = true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“정보가 부족하다”는 플래그는 정확히 달았다.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본문에서는 — “환불이 승인되면 결제하셨던 기프트카드 수단으로 다시 환급이 진행됩니다”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986784"/>
            <a:ext cx="2615184" cy="1225296"/>
          </a:xfrm>
          <a:prstGeom prst="roundRect">
            <a:avLst>
              <a:gd name="adj" fmla="val 6716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15137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64515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기준 함정 회피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3986784"/>
            <a:ext cx="2615184" cy="1225296"/>
          </a:xfrm>
          <a:prstGeom prst="roundRect">
            <a:avLst>
              <a:gd name="adj" fmla="val 6716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15137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464515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기준 함정 회피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986784"/>
            <a:ext cx="5148072" cy="1225296"/>
          </a:xfrm>
          <a:prstGeom prst="roundRect">
            <a:avLst>
              <a:gd name="adj" fmla="val 6716"/>
            </a:avLst>
          </a:prstGeom>
          <a:solidFill>
            <a:srgbClr val="161B24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사람 승인을 뺄 수 없다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93408" y="4535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환각을 줄이는 것과 없애는 것은 다르다. HITL은 성능이 좋아져도 남아야 하는 구조다.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경로만 따라가는 검증으로는 안 나오는 결함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47088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발송이 끝난 건의 옛 텔레그램 카드에서 “수정 요청”을 눌렀더니 그대로 먹혔다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수정중으로 되돌아가 재작성이 돌았고, 그대로 승인했으면 같은 고객에게 메일이 두 번 나갔다.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596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경로에는 중복 방어가 있었는데, 수정 경로에는 없었다.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364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경로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33649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→ 문의 읽기 → 대상 조회 → [발송완료면 차단] → 발송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0" y="336499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 있음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68496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F26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133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경로 (기존)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413308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→ 상태: 수정중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18320" y="41330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없이 바로 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901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경로 (수정 후)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4901184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→ 문의 읽기(가드) → 판정 → [발송완료면 차단]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49011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구조를 복제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614416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언제든 과거 UI를 다시 만진다 — HITL 시스템에서는 그게 설계 전제여야 한다.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회고와 향후 확장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6675120" cy="4023360"/>
          </a:xfrm>
          <a:prstGeom prst="roundRect">
            <a:avLst>
              <a:gd name="adj" fmla="val 2045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81051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32688" y="2286000"/>
            <a:ext cx="347472" cy="34747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37C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6464" y="226771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측정하지 않았으면 쓰이지 않는 클래스를 그대로 안고 발표했을 것이다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26464" y="27980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오른 것과 나아진 것은 다르다. 클래스별로 쪼개 봐야 보인다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32688" y="3419856"/>
            <a:ext cx="347472" cy="34747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37C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26464" y="340156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제약이 설계를 이끌었다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26464" y="3931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티어 RPD 20이라는 벽을 만나 모델 비교 실험을 했고, 그 실험이 환각 한 건을 미리 잡았다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" y="4553712"/>
            <a:ext cx="347472" cy="347472"/>
          </a:xfrm>
          <a:prstGeom prst="ellipse">
            <a:avLst/>
          </a:prstGeom>
          <a:solidFill>
            <a:srgbClr val="161B24"/>
          </a:solidFill>
          <a:ln w="19050">
            <a:solidFill>
              <a:srgbClr val="37C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553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26464" y="453542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경로만 검증하면 놓친다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26464" y="50657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엉뚱한 버튼을 눌러서 발견된 결함이 있었다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80960" y="1627632"/>
            <a:ext cx="3867912" cy="4023360"/>
          </a:xfrm>
          <a:prstGeom prst="roundRect">
            <a:avLst>
              <a:gd name="adj" fmla="val 2128"/>
            </a:avLst>
          </a:prstGeom>
          <a:solidFill>
            <a:srgbClr val="1B2230"/>
          </a:solidFill>
          <a:ln w="12700">
            <a:solidFill>
              <a:srgbClr val="2A3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7356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973568" y="234086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23225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DB 연동 — 📋 배지가 그 진입점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73568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0" y="29443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이력을 프롬프트 개선에 활용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73568" y="35844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5661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지시 매칭을 텔레그램 답장으로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73568" y="420624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18795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다채널 확장 (카카오톡·인스타 DM)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73568" y="482803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8097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담당자별 배정과 협업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77295" y="6291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빠르게 만드는 것보다,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가능하게 만드는 것이 실무의 문제다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통제 가능하게 만들면서도 실제로 빨라졌는지를 숫자로 확인했다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968496"/>
            <a:ext cx="5029200" cy="1097280"/>
          </a:xfrm>
          <a:prstGeom prst="roundRect">
            <a:avLst>
              <a:gd name="adj" fmla="val 7500"/>
            </a:avLst>
          </a:prstGeom>
          <a:solidFill>
            <a:srgbClr val="1B2230"/>
          </a:solidFill>
          <a:ln w="12700">
            <a:solidFill>
              <a:srgbClr val="37C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4169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C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94.0%</a:t>
            </a:r>
            <a:pPr indent="0" marL="0">
              <a:buNone/>
            </a:pPr>
            <a:r>
              <a:rPr lang="en-US" sz="15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vs   </a:t>
            </a:r>
            <a:pPr indent="0" marL="0">
              <a:buNone/>
            </a:pPr>
            <a:r>
              <a:rPr lang="en-US" sz="2200" dirty="0">
                <a:solidFill>
                  <a:srgbClr val="F261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34.0%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5568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승인률 · RAG vs 베이스라인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40416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6ED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0" y="46268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F9C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github.com/noviz-domino/replygate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4956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8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1282</ep:Words>
  <ep:PresentationFormat>On-screen Show (16:9)</ep:PresentationFormat>
  <ep:Paragraphs>337</ep:Paragraphs>
  <ep:Slides>19</ep:Slides>
  <ep:Notes>19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ep:HeadingPairs>
  <ep: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2026-08-03T01:22:38.000</dcterms:created>
  <dc:creator>PptxGenJS</dc:creator>
  <cp:lastModifiedBy>HOME</cp:lastModifiedBy>
  <dcterms:modified xsi:type="dcterms:W3CDTF">2026-08-07T01:52:32.745</dcterms:modified>
  <cp:revision>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